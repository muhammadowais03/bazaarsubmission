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Fredoka" charset="1" panose="02000000000000000000"/>
      <p:regular r:id="rId17"/>
    </p:embeddedFont>
    <p:embeddedFont>
      <p:font typeface="Varela Round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8812" y="861300"/>
            <a:ext cx="11337627" cy="1149540"/>
            <a:chOff x="0" y="0"/>
            <a:chExt cx="15062400" cy="152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062400" cy="1527200"/>
            </a:xfrm>
            <a:custGeom>
              <a:avLst/>
              <a:gdLst/>
              <a:ahLst/>
              <a:cxnLst/>
              <a:rect r="r" b="b" t="t" l="l"/>
              <a:pathLst>
                <a:path h="1527200" w="15062400">
                  <a:moveTo>
                    <a:pt x="0" y="0"/>
                  </a:moveTo>
                  <a:lnTo>
                    <a:pt x="15062400" y="0"/>
                  </a:lnTo>
                  <a:lnTo>
                    <a:pt x="15062400" y="1527200"/>
                  </a:lnTo>
                  <a:lnTo>
                    <a:pt x="0" y="1527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5062400" cy="15272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328"/>
                </a:lnSpc>
              </a:pPr>
              <a:r>
                <a:rPr lang="en-US" sz="4440">
                  <a:solidFill>
                    <a:srgbClr val="000000"/>
                  </a:solidFill>
                  <a:latin typeface="Fredoka"/>
                  <a:ea typeface="Fredoka"/>
                  <a:cs typeface="Fredoka"/>
                  <a:sym typeface="Fredoka"/>
                </a:rPr>
                <a:t>WHO AM I?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28500" y="861300"/>
            <a:ext cx="1056350" cy="886750"/>
          </a:xfrm>
          <a:custGeom>
            <a:avLst/>
            <a:gdLst/>
            <a:ahLst/>
            <a:cxnLst/>
            <a:rect r="r" b="b" t="t" l="l"/>
            <a:pathLst>
              <a:path h="886750" w="1056350">
                <a:moveTo>
                  <a:pt x="0" y="0"/>
                </a:moveTo>
                <a:lnTo>
                  <a:pt x="1056350" y="0"/>
                </a:lnTo>
                <a:lnTo>
                  <a:pt x="1056350" y="886750"/>
                </a:lnTo>
                <a:lnTo>
                  <a:pt x="0" y="88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09751" y="2162674"/>
            <a:ext cx="972472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"Code is my canvas. I d</a:t>
            </a: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on’t just build apps—I engineer experiences."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8812" y="3059256"/>
            <a:ext cx="17092558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Hey! I’m M</a:t>
            </a:r>
            <a:r>
              <a:rPr lang="en-US" sz="22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uhammad Owais, a passionate Full-Stack Developer and Computer Systems Engineering student at NED University (Class of 2026). With a CGPA of 3.76/4.00, I balance academic rigor with real-world impact.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8812" y="4129953"/>
            <a:ext cx="8558510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I</a:t>
            </a:r>
            <a:r>
              <a:rPr lang="en-US" sz="22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specialize in:</a:t>
            </a:r>
          </a:p>
          <a:p>
            <a:pPr algn="l" marL="474981" indent="-237491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MERN &amp; Django Stacks</a:t>
            </a:r>
          </a:p>
          <a:p>
            <a:pPr algn="l" marL="474981" indent="-237491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Real-Time Applications (WebSockets, Socket.IO)</a:t>
            </a:r>
          </a:p>
          <a:p>
            <a:pPr algn="l" marL="474981" indent="-237491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Clean APIs &amp; Modern Frontends (React, Next.js, TailwindCSS)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18812" y="5949228"/>
            <a:ext cx="4131469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I’m </a:t>
            </a:r>
            <a:r>
              <a:rPr lang="en-US" sz="22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obsessed with:</a:t>
            </a:r>
          </a:p>
          <a:p>
            <a:pPr algn="l" marL="474981" indent="-237491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Building efficient backends</a:t>
            </a:r>
          </a:p>
          <a:p>
            <a:pPr algn="l" marL="474981" indent="-237491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Crafting intuitive UIs</a:t>
            </a:r>
          </a:p>
          <a:p>
            <a:pPr algn="l" marL="474981" indent="-237491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Solving problems with code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18812" y="7768503"/>
            <a:ext cx="17569188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Whether it’s creating a social media platform, e-commerce store, </a:t>
            </a:r>
            <a:r>
              <a:rPr lang="en-US" sz="21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or secure real-time chat app, I bring a mix of logic, creativity, and scalability to every line of code.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🔧 Tools I Love: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Django · Django REST Framework · React.js · Next.js · Node.js · Express.js · Python · JavaScript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PostgreSQL · MongoDB · Sequelize ORM · WebSockets · Socket.IO · Tailwind CSS · Cloudinary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6000" y="247850"/>
            <a:ext cx="16707748" cy="2509839"/>
            <a:chOff x="0" y="0"/>
            <a:chExt cx="22276997" cy="33464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76997" cy="3346452"/>
            </a:xfrm>
            <a:custGeom>
              <a:avLst/>
              <a:gdLst/>
              <a:ahLst/>
              <a:cxnLst/>
              <a:rect r="r" b="b" t="t" l="l"/>
              <a:pathLst>
                <a:path h="3346452" w="22276997">
                  <a:moveTo>
                    <a:pt x="0" y="0"/>
                  </a:moveTo>
                  <a:lnTo>
                    <a:pt x="22276997" y="0"/>
                  </a:lnTo>
                  <a:lnTo>
                    <a:pt x="22276997" y="3346452"/>
                  </a:lnTo>
                  <a:lnTo>
                    <a:pt x="0" y="33464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276997" cy="334645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Fredoka"/>
                  <a:ea typeface="Fredoka"/>
                  <a:cs typeface="Fredoka"/>
                  <a:sym typeface="Fredoka"/>
                </a:rPr>
                <a:t>STAGE1</a:t>
              </a:r>
              <a:r>
                <a:rPr lang="en-US" sz="3600">
                  <a:solidFill>
                    <a:srgbClr val="000000"/>
                  </a:solidFill>
                  <a:latin typeface="Fredoka"/>
                  <a:ea typeface="Fredoka"/>
                  <a:cs typeface="Fredoka"/>
                  <a:sym typeface="Fredoka"/>
                </a:rPr>
                <a:t>: SINGLE-STORE INVENTORY SYSTEM</a:t>
              </a:r>
            </a:p>
            <a:p>
              <a:pPr algn="ctr">
                <a:lnSpc>
                  <a:spcPts val="3648"/>
                </a:lnSpc>
              </a:pPr>
              <a:r>
                <a:rPr lang="en-US" sz="304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 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“Build a backend service to track product inventory for a single kiryana store.”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66000" y="2033788"/>
            <a:ext cx="12518063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Solutions:</a:t>
            </a:r>
          </a:p>
          <a:p>
            <a:pPr algn="just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Simple REST API with SQLite for local storage.</a:t>
            </a:r>
          </a:p>
          <a:p>
            <a:pPr algn="just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Tracks stock-ins, sales, and manual removals.</a:t>
            </a:r>
          </a:p>
          <a:p>
            <a:pPr algn="just">
              <a:lnSpc>
                <a:spcPts val="28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66000" y="3743082"/>
            <a:ext cx="15903443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Key Feat</a:t>
            </a: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ures: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“Lightweight database (SQLite).”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“Basic CRUD operations for products.”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“Stock updates via API endpoints.”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24435" y="8238882"/>
            <a:ext cx="1714973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Goal: “Efficient and straightf</a:t>
            </a: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orward inventory management for one store.”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24435" y="5810007"/>
            <a:ext cx="15183544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Technology Stack for Stage 1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Node.js: “Runtime environment for executing server-side JavaScript.”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Express.js: “Web framework for building RESTful APIs and handling HTTP requests.”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SQLite: “Lightweight, file-based database for local storage of product data.”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Sequelize: “ORM for defining the Product model and interacting with SQLite.”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028500" y="861300"/>
            <a:ext cx="1056350" cy="886750"/>
          </a:xfrm>
          <a:custGeom>
            <a:avLst/>
            <a:gdLst/>
            <a:ahLst/>
            <a:cxnLst/>
            <a:rect r="r" b="b" t="t" l="l"/>
            <a:pathLst>
              <a:path h="886750" w="1056350">
                <a:moveTo>
                  <a:pt x="0" y="0"/>
                </a:moveTo>
                <a:lnTo>
                  <a:pt x="1056350" y="0"/>
                </a:lnTo>
                <a:lnTo>
                  <a:pt x="1056350" y="886750"/>
                </a:lnTo>
                <a:lnTo>
                  <a:pt x="0" y="88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6000" y="861300"/>
            <a:ext cx="11296800" cy="1480272"/>
            <a:chOff x="0" y="0"/>
            <a:chExt cx="15062400" cy="19736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062400" cy="1973695"/>
            </a:xfrm>
            <a:custGeom>
              <a:avLst/>
              <a:gdLst/>
              <a:ahLst/>
              <a:cxnLst/>
              <a:rect r="r" b="b" t="t" l="l"/>
              <a:pathLst>
                <a:path h="1973695" w="15062400">
                  <a:moveTo>
                    <a:pt x="0" y="0"/>
                  </a:moveTo>
                  <a:lnTo>
                    <a:pt x="15062400" y="0"/>
                  </a:lnTo>
                  <a:lnTo>
                    <a:pt x="15062400" y="1973695"/>
                  </a:lnTo>
                  <a:lnTo>
                    <a:pt x="0" y="19736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5062400" cy="197369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Stage 1 - Design Decisi</a:t>
              </a:r>
              <a:r>
                <a:rPr lang="en-US" sz="36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ons &amp; Assumptions</a:t>
              </a:r>
            </a:p>
            <a:p>
              <a:pPr algn="l">
                <a:lnSpc>
                  <a:spcPts val="532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28500" y="861300"/>
            <a:ext cx="1056350" cy="886750"/>
          </a:xfrm>
          <a:custGeom>
            <a:avLst/>
            <a:gdLst/>
            <a:ahLst/>
            <a:cxnLst/>
            <a:rect r="r" b="b" t="t" l="l"/>
            <a:pathLst>
              <a:path h="886750" w="1056350">
                <a:moveTo>
                  <a:pt x="0" y="0"/>
                </a:moveTo>
                <a:lnTo>
                  <a:pt x="1056350" y="0"/>
                </a:lnTo>
                <a:lnTo>
                  <a:pt x="1056350" y="886750"/>
                </a:lnTo>
                <a:lnTo>
                  <a:pt x="0" y="88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16901" y="7068840"/>
            <a:ext cx="13871173" cy="1922058"/>
          </a:xfrm>
          <a:custGeom>
            <a:avLst/>
            <a:gdLst/>
            <a:ahLst/>
            <a:cxnLst/>
            <a:rect r="r" b="b" t="t" l="l"/>
            <a:pathLst>
              <a:path h="1922058" w="13871173">
                <a:moveTo>
                  <a:pt x="0" y="0"/>
                </a:moveTo>
                <a:lnTo>
                  <a:pt x="13871173" y="0"/>
                </a:lnTo>
                <a:lnTo>
                  <a:pt x="13871173" y="1922059"/>
                </a:lnTo>
                <a:lnTo>
                  <a:pt x="0" y="19220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8" t="-18618" r="-2036" b="-1473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6000" y="1974053"/>
            <a:ext cx="12585650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Design Decisions: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Database: “SQLite chosen f</a:t>
            </a: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or simplicity and local storage—no server setup needed.”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Model: “Single Product table with name, sku, and quantity for stock tracking.”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API: “RESTful endpoints over CLI for flexibility and future scalability.”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66000" y="3783803"/>
            <a:ext cx="8052495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Assumptions: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“Single st</a:t>
            </a: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ore with multiple products.”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“No concurrent updates (sequential stock changes).”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“Manual removals treated as stock-outs.”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66000" y="5827780"/>
            <a:ext cx="1054923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Why: “Prioritized ease </a:t>
            </a: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of use and minimal setup for a small-scale system.”</a:t>
            </a:r>
          </a:p>
        </p:txBody>
      </p:sp>
      <p:sp>
        <p:nvSpPr>
          <p:cNvPr name="AutoShape 10" id="10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7459" y="428405"/>
            <a:ext cx="11296800" cy="1228039"/>
            <a:chOff x="0" y="0"/>
            <a:chExt cx="15062400" cy="16373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062400" cy="1637386"/>
            </a:xfrm>
            <a:custGeom>
              <a:avLst/>
              <a:gdLst/>
              <a:ahLst/>
              <a:cxnLst/>
              <a:rect r="r" b="b" t="t" l="l"/>
              <a:pathLst>
                <a:path h="1637386" w="15062400">
                  <a:moveTo>
                    <a:pt x="0" y="0"/>
                  </a:moveTo>
                  <a:lnTo>
                    <a:pt x="15062400" y="0"/>
                  </a:lnTo>
                  <a:lnTo>
                    <a:pt x="15062400" y="1637386"/>
                  </a:lnTo>
                  <a:lnTo>
                    <a:pt x="0" y="16373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5062400" cy="163738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Stage 1</a:t>
              </a:r>
              <a:r>
                <a:rPr lang="en-US" sz="36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 - API Design</a:t>
              </a:r>
            </a:p>
            <a:p>
              <a:pPr algn="l">
                <a:lnSpc>
                  <a:spcPts val="43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28500" y="861300"/>
            <a:ext cx="1056350" cy="886750"/>
          </a:xfrm>
          <a:custGeom>
            <a:avLst/>
            <a:gdLst/>
            <a:ahLst/>
            <a:cxnLst/>
            <a:rect r="r" b="b" t="t" l="l"/>
            <a:pathLst>
              <a:path h="886750" w="1056350">
                <a:moveTo>
                  <a:pt x="0" y="0"/>
                </a:moveTo>
                <a:lnTo>
                  <a:pt x="1056350" y="0"/>
                </a:lnTo>
                <a:lnTo>
                  <a:pt x="1056350" y="886750"/>
                </a:lnTo>
                <a:lnTo>
                  <a:pt x="0" y="88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21338" y="1304675"/>
            <a:ext cx="10227390" cy="3919479"/>
          </a:xfrm>
          <a:custGeom>
            <a:avLst/>
            <a:gdLst/>
            <a:ahLst/>
            <a:cxnLst/>
            <a:rect r="r" b="b" t="t" l="l"/>
            <a:pathLst>
              <a:path h="3919479" w="10227390">
                <a:moveTo>
                  <a:pt x="0" y="0"/>
                </a:moveTo>
                <a:lnTo>
                  <a:pt x="10227390" y="0"/>
                </a:lnTo>
                <a:lnTo>
                  <a:pt x="10227390" y="3919479"/>
                </a:lnTo>
                <a:lnTo>
                  <a:pt x="0" y="3919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97459" y="5381449"/>
            <a:ext cx="8998572" cy="533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API Endp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oints:</a:t>
            </a: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POST /api/v1/product/create-productPurpose: Create a product.</a:t>
            </a:r>
          </a:p>
          <a:p>
            <a:pPr algn="l" marL="777246" indent="-259082" lvl="2">
              <a:lnSpc>
                <a:spcPts val="216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Request: { "name": "Rice", "sku": "RICE001", "quantity": 10 }</a:t>
            </a:r>
          </a:p>
          <a:p>
            <a:pPr algn="l" marL="777246" indent="-259082" lvl="2">
              <a:lnSpc>
                <a:spcPts val="216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Response: { "id": 1, "name": "Rice", "sku": "RICE001", "quantity": 10 }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GET /api/v1/product/get-all-productsPurpose: Fetch all products.</a:t>
            </a:r>
          </a:p>
          <a:p>
            <a:pPr algn="l" marL="777246" indent="-259082" lvl="2">
              <a:lnSpc>
                <a:spcPts val="216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Response: [{ "id": 1, "name": "Rice", "sku": "RICE001", "quantity": 10 }, ...]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GET /api/v1/product/get-product/:skuPurpose: Fetch product by SKU.</a:t>
            </a:r>
          </a:p>
          <a:p>
            <a:pPr algn="l" marL="777246" indent="-259082" lvl="2">
              <a:lnSpc>
                <a:spcPts val="216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Response: { "id": 1, "name": "Rice", "sku": "RICE001", "quantity": 10 }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PUT /api/v1/product/stock-in/:skuPurpose: Add stock.</a:t>
            </a:r>
          </a:p>
          <a:p>
            <a:pPr algn="l" marL="777246" indent="-259082" lvl="2">
              <a:lnSpc>
                <a:spcPts val="216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Request: { "quantity": 5 }</a:t>
            </a:r>
          </a:p>
          <a:p>
            <a:pPr algn="l" marL="777246" indent="-259082" lvl="2">
              <a:lnSpc>
                <a:spcPts val="216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Response: { "id": 1, "name": "Rice", "sku": "RICE001", "quantity": 15 }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PUT /api/v1/product/stock-out/:skuPurpose: Remove stock.</a:t>
            </a:r>
          </a:p>
          <a:p>
            <a:pPr algn="l" marL="777246" indent="-259082" lvl="2">
              <a:lnSpc>
                <a:spcPts val="216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Request: { "quantity": 3 }</a:t>
            </a:r>
          </a:p>
          <a:p>
            <a:pPr algn="l" marL="777246" indent="-259082" lvl="2">
              <a:lnSpc>
                <a:spcPts val="216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Response: { "id": 1, "name": "Rice", "sku": "RICE001", "quantity": 12 }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</a:p>
          <a:p>
            <a:pPr algn="l">
              <a:lnSpc>
                <a:spcPts val="21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28500" y="861300"/>
            <a:ext cx="1056350" cy="886750"/>
          </a:xfrm>
          <a:custGeom>
            <a:avLst/>
            <a:gdLst/>
            <a:ahLst/>
            <a:cxnLst/>
            <a:rect r="r" b="b" t="t" l="l"/>
            <a:pathLst>
              <a:path h="886750" w="1056350">
                <a:moveTo>
                  <a:pt x="0" y="0"/>
                </a:moveTo>
                <a:lnTo>
                  <a:pt x="1056350" y="0"/>
                </a:lnTo>
                <a:lnTo>
                  <a:pt x="1056350" y="886750"/>
                </a:lnTo>
                <a:lnTo>
                  <a:pt x="0" y="88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2976" y="247850"/>
            <a:ext cx="16707748" cy="2509839"/>
            <a:chOff x="0" y="0"/>
            <a:chExt cx="22276997" cy="33464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76997" cy="3346452"/>
            </a:xfrm>
            <a:custGeom>
              <a:avLst/>
              <a:gdLst/>
              <a:ahLst/>
              <a:cxnLst/>
              <a:rect r="r" b="b" t="t" l="l"/>
              <a:pathLst>
                <a:path h="3346452" w="22276997">
                  <a:moveTo>
                    <a:pt x="0" y="0"/>
                  </a:moveTo>
                  <a:lnTo>
                    <a:pt x="22276997" y="0"/>
                  </a:lnTo>
                  <a:lnTo>
                    <a:pt x="22276997" y="3346452"/>
                  </a:lnTo>
                  <a:lnTo>
                    <a:pt x="0" y="33464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2276997" cy="334645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Stage2</a:t>
              </a:r>
              <a:r>
                <a:rPr lang="en-US" sz="36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: Multi-Store Inventory System</a:t>
              </a:r>
            </a:p>
            <a:p>
              <a:pPr algn="ctr">
                <a:lnSpc>
                  <a:spcPts val="3648"/>
                </a:lnSpc>
              </a:pPr>
              <a:r>
                <a:rPr lang="en-US" sz="304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 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“Support 500+ stores with a central product catalog, store-specific stock, and audit logs.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”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92976" y="2033788"/>
            <a:ext cx="12518063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Solutions:</a:t>
            </a:r>
          </a:p>
          <a:p>
            <a:pPr algn="just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REST API with PostgreSQL for relational data.</a:t>
            </a:r>
          </a:p>
          <a:p>
            <a:pPr algn="just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Added store-specific products, categories, and inventory logs.</a:t>
            </a:r>
          </a:p>
          <a:p>
            <a:pPr algn="just">
              <a:lnSpc>
                <a:spcPts val="28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92976" y="3743082"/>
            <a:ext cx="15903443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Key Feat</a:t>
            </a: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ures: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Multi-store support with Store and Product models.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JWT </a:t>
            </a: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authentication for secure access.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Inven</a:t>
            </a: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tory logs for auditing stock changes.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18812" y="8789414"/>
            <a:ext cx="1714973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Goal: Scalable and secu</a:t>
            </a: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re inventory management for multiple stores.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92976" y="5292866"/>
            <a:ext cx="15183544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Technology Stack for Stage 2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Node.js: Server-side runtime.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Express.js: API framework.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PostgreSQL: Relational database for multi-store data.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Sequelize: ORM for database interactions.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JWT: Authentication via tokens.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express-rate-limit: API request throttling (100 req/min).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</a:p>
          <a:p>
            <a:pPr algn="l">
              <a:lnSpc>
                <a:spcPts val="28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28500" y="861300"/>
            <a:ext cx="1056350" cy="886750"/>
          </a:xfrm>
          <a:custGeom>
            <a:avLst/>
            <a:gdLst/>
            <a:ahLst/>
            <a:cxnLst/>
            <a:rect r="r" b="b" t="t" l="l"/>
            <a:pathLst>
              <a:path h="886750" w="1056350">
                <a:moveTo>
                  <a:pt x="0" y="0"/>
                </a:moveTo>
                <a:lnTo>
                  <a:pt x="1056350" y="0"/>
                </a:lnTo>
                <a:lnTo>
                  <a:pt x="1056350" y="886750"/>
                </a:lnTo>
                <a:lnTo>
                  <a:pt x="0" y="88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28500" y="861300"/>
            <a:ext cx="1056350" cy="886750"/>
          </a:xfrm>
          <a:custGeom>
            <a:avLst/>
            <a:gdLst/>
            <a:ahLst/>
            <a:cxnLst/>
            <a:rect r="r" b="b" t="t" l="l"/>
            <a:pathLst>
              <a:path h="886750" w="1056350">
                <a:moveTo>
                  <a:pt x="0" y="0"/>
                </a:moveTo>
                <a:lnTo>
                  <a:pt x="1056350" y="0"/>
                </a:lnTo>
                <a:lnTo>
                  <a:pt x="1056350" y="886750"/>
                </a:lnTo>
                <a:lnTo>
                  <a:pt x="0" y="88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2347" y="2341572"/>
            <a:ext cx="7713315" cy="5958009"/>
          </a:xfrm>
          <a:custGeom>
            <a:avLst/>
            <a:gdLst/>
            <a:ahLst/>
            <a:cxnLst/>
            <a:rect r="r" b="b" t="t" l="l"/>
            <a:pathLst>
              <a:path h="5958009" w="7713315">
                <a:moveTo>
                  <a:pt x="0" y="0"/>
                </a:moveTo>
                <a:lnTo>
                  <a:pt x="7713315" y="0"/>
                </a:lnTo>
                <a:lnTo>
                  <a:pt x="7713315" y="5958009"/>
                </a:lnTo>
                <a:lnTo>
                  <a:pt x="0" y="59580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93704" y="385050"/>
            <a:ext cx="11296800" cy="1480272"/>
            <a:chOff x="0" y="0"/>
            <a:chExt cx="15062400" cy="19736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062400" cy="1973695"/>
            </a:xfrm>
            <a:custGeom>
              <a:avLst/>
              <a:gdLst/>
              <a:ahLst/>
              <a:cxnLst/>
              <a:rect r="r" b="b" t="t" l="l"/>
              <a:pathLst>
                <a:path h="1973695" w="15062400">
                  <a:moveTo>
                    <a:pt x="0" y="0"/>
                  </a:moveTo>
                  <a:lnTo>
                    <a:pt x="15062400" y="0"/>
                  </a:lnTo>
                  <a:lnTo>
                    <a:pt x="15062400" y="1973695"/>
                  </a:lnTo>
                  <a:lnTo>
                    <a:pt x="0" y="19736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5062400" cy="197369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Stage 2 - Design Decisi</a:t>
              </a:r>
              <a:r>
                <a:rPr lang="en-US" sz="36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ons &amp; Assumptions</a:t>
              </a:r>
            </a:p>
            <a:p>
              <a:pPr algn="l">
                <a:lnSpc>
                  <a:spcPts val="532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75020" y="2472502"/>
            <a:ext cx="8952607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Design Decisions:</a:t>
            </a: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Database: PostgreSQL f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or relational integrity and scalability.</a:t>
            </a: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Model: “Store, Category, Product, and InventoryLog for store-specific tracking.”</a:t>
            </a: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Scaling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: JWT authentication to restrict access per store.</a:t>
            </a: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Rate Limiting: Added express-rate-limit for API stability.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75020" y="4282252"/>
            <a:ext cx="6609457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Assumptions:</a:t>
            </a: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Each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st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ore manages its own products and categories.</a:t>
            </a: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A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uthenticated users (store owners) access their data only.</a:t>
            </a: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Stock ch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anges are logged for auditing.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28500" y="861300"/>
            <a:ext cx="1056350" cy="886750"/>
          </a:xfrm>
          <a:custGeom>
            <a:avLst/>
            <a:gdLst/>
            <a:ahLst/>
            <a:cxnLst/>
            <a:rect r="r" b="b" t="t" l="l"/>
            <a:pathLst>
              <a:path h="886750" w="1056350">
                <a:moveTo>
                  <a:pt x="0" y="0"/>
                </a:moveTo>
                <a:lnTo>
                  <a:pt x="1056350" y="0"/>
                </a:lnTo>
                <a:lnTo>
                  <a:pt x="1056350" y="886750"/>
                </a:lnTo>
                <a:lnTo>
                  <a:pt x="0" y="88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97459" y="428405"/>
            <a:ext cx="11296800" cy="1228039"/>
            <a:chOff x="0" y="0"/>
            <a:chExt cx="15062400" cy="16373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062400" cy="1637386"/>
            </a:xfrm>
            <a:custGeom>
              <a:avLst/>
              <a:gdLst/>
              <a:ahLst/>
              <a:cxnLst/>
              <a:rect r="r" b="b" t="t" l="l"/>
              <a:pathLst>
                <a:path h="1637386" w="15062400">
                  <a:moveTo>
                    <a:pt x="0" y="0"/>
                  </a:moveTo>
                  <a:lnTo>
                    <a:pt x="15062400" y="0"/>
                  </a:lnTo>
                  <a:lnTo>
                    <a:pt x="15062400" y="1637386"/>
                  </a:lnTo>
                  <a:lnTo>
                    <a:pt x="0" y="16373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5062400" cy="163738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Stage 2</a:t>
              </a:r>
              <a:r>
                <a:rPr lang="en-US" sz="36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 - API Design</a:t>
              </a:r>
            </a:p>
            <a:p>
              <a:pPr algn="l">
                <a:lnSpc>
                  <a:spcPts val="43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447533" y="6705677"/>
            <a:ext cx="10969930" cy="3203815"/>
          </a:xfrm>
          <a:custGeom>
            <a:avLst/>
            <a:gdLst/>
            <a:ahLst/>
            <a:cxnLst/>
            <a:rect r="r" b="b" t="t" l="l"/>
            <a:pathLst>
              <a:path h="3203815" w="10969930">
                <a:moveTo>
                  <a:pt x="0" y="0"/>
                </a:moveTo>
                <a:lnTo>
                  <a:pt x="10969930" y="0"/>
                </a:lnTo>
                <a:lnTo>
                  <a:pt x="10969930" y="3203815"/>
                </a:lnTo>
                <a:lnTo>
                  <a:pt x="0" y="32038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9147" r="-860" b="-3191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25603" y="1304675"/>
            <a:ext cx="8636794" cy="560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API Endp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oints:</a:t>
            </a: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POST /api/v2/store/create-store (24pt)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      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Purpose: Create a store” (20pt)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      Request: { "name": "Kiryana1", "ownerEmail": "owner@example.com",   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                            "password": "pass123" }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      Response: { "id": "uuid", "name": "Kiryana1", ... }</a:t>
            </a: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POS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T /api/v2/product/create-product/:storeId 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      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Purpose: Create a product for a store (JWT)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      Request: { "name": "Rice", "quantity": 10, "price": 5.99, "categoryId":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                            "uuid" }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       Response: { "id": "uuid", "name": "Rice", ... }</a:t>
            </a: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PUT /api/v2/product/stock-in/:id 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       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Purpose: Add stock with logging (JWT)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       Request: { "quantity": 5 }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       Response: { "id": "uuid", "name": "Rice", "quantity": 15, ... }</a:t>
            </a: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GET /api/v2/logs/show-logs/:storeId 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       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Purpose: Fetch logs with date filtering (JWT)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       Query: ?startDate=2025-04-01&amp;endDate=2025-04-04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           Response: [{ "id": "uuid", "changeType": "IN", ... }, ...]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</a:p>
          <a:p>
            <a:pPr algn="l">
              <a:lnSpc>
                <a:spcPts val="21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28500" y="861300"/>
            <a:ext cx="1056350" cy="886750"/>
          </a:xfrm>
          <a:custGeom>
            <a:avLst/>
            <a:gdLst/>
            <a:ahLst/>
            <a:cxnLst/>
            <a:rect r="r" b="b" t="t" l="l"/>
            <a:pathLst>
              <a:path h="886750" w="1056350">
                <a:moveTo>
                  <a:pt x="0" y="0"/>
                </a:moveTo>
                <a:lnTo>
                  <a:pt x="1056350" y="0"/>
                </a:lnTo>
                <a:lnTo>
                  <a:pt x="1056350" y="886750"/>
                </a:lnTo>
                <a:lnTo>
                  <a:pt x="0" y="88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28500" y="861300"/>
            <a:ext cx="1056350" cy="886750"/>
          </a:xfrm>
          <a:custGeom>
            <a:avLst/>
            <a:gdLst/>
            <a:ahLst/>
            <a:cxnLst/>
            <a:rect r="r" b="b" t="t" l="l"/>
            <a:pathLst>
              <a:path h="886750" w="1056350">
                <a:moveTo>
                  <a:pt x="0" y="0"/>
                </a:moveTo>
                <a:lnTo>
                  <a:pt x="1056350" y="0"/>
                </a:lnTo>
                <a:lnTo>
                  <a:pt x="1056350" y="886750"/>
                </a:lnTo>
                <a:lnTo>
                  <a:pt x="0" y="88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92976" y="247850"/>
            <a:ext cx="16707748" cy="2509839"/>
            <a:chOff x="0" y="0"/>
            <a:chExt cx="22276997" cy="33464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76997" cy="3346452"/>
            </a:xfrm>
            <a:custGeom>
              <a:avLst/>
              <a:gdLst/>
              <a:ahLst/>
              <a:cxnLst/>
              <a:rect r="r" b="b" t="t" l="l"/>
              <a:pathLst>
                <a:path h="3346452" w="22276997">
                  <a:moveTo>
                    <a:pt x="0" y="0"/>
                  </a:moveTo>
                  <a:lnTo>
                    <a:pt x="22276997" y="0"/>
                  </a:lnTo>
                  <a:lnTo>
                    <a:pt x="22276997" y="3346452"/>
                  </a:lnTo>
                  <a:lnTo>
                    <a:pt x="0" y="33464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2276997" cy="334645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Fredoka"/>
                  <a:ea typeface="Fredoka"/>
                  <a:cs typeface="Fredoka"/>
                  <a:sym typeface="Fredoka"/>
                </a:rPr>
                <a:t>STAGE3</a:t>
              </a:r>
              <a:r>
                <a:rPr lang="en-US" sz="3600">
                  <a:solidFill>
                    <a:srgbClr val="000000"/>
                  </a:solidFill>
                  <a:latin typeface="Fredoka"/>
                  <a:ea typeface="Fredoka"/>
                  <a:cs typeface="Fredoka"/>
                  <a:sym typeface="Fredoka"/>
                </a:rPr>
                <a:t>: SCALABLE INVENTORY SYSTEM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 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“Scale to thousands of stores with real-time stock sync, high concurrency, and auditability.”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“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”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92976" y="2033788"/>
            <a:ext cx="12518063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Solutions:</a:t>
            </a:r>
          </a:p>
          <a:p>
            <a:pPr algn="just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Added read/write separation in PostgreSQL for concurrency.</a:t>
            </a:r>
          </a:p>
          <a:p>
            <a:pPr algn="just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Introduced Redis for caching and async event-driven updates.</a:t>
            </a:r>
          </a:p>
          <a:p>
            <a:pPr algn="just">
              <a:lnSpc>
                <a:spcPts val="28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92976" y="3743082"/>
            <a:ext cx="15903443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Key Feat</a:t>
            </a: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ures: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Horizontal scalability with master/slave DB setup.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R</a:t>
            </a: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edis caching for faster log retrieval.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Async even</a:t>
            </a: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ts via Redis Pub/Sub for near real-time stock updates.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</a:p>
          <a:p>
            <a:pPr algn="l">
              <a:lnSpc>
                <a:spcPts val="287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18812" y="8789414"/>
            <a:ext cx="1714973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Goal: Scalable and secu</a:t>
            </a: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re inventory management for multiple stores.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92976" y="5402972"/>
            <a:ext cx="15183544" cy="434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Technology Stack for Stage 3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Node.js: Server-side runtime.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Express.js: API framework.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PostgreSQL: Relational database for multi-store data.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Sequelize: ORM for database interactions.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JWT: Authentication via tokens.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express-rate-limit: API request throttling (100 req/min).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Redis: Caching and Pub/Sub for async events.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moment-timezone: Date handling for log filtering.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</a:p>
          <a:p>
            <a:pPr algn="l">
              <a:lnSpc>
                <a:spcPts val="2879"/>
              </a:lnSpc>
              <a:spcBef>
                <a:spcPct val="0"/>
              </a:spcBef>
            </a:pPr>
          </a:p>
          <a:p>
            <a:pPr algn="l">
              <a:lnSpc>
                <a:spcPts val="28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28500" y="861300"/>
            <a:ext cx="1056350" cy="886750"/>
          </a:xfrm>
          <a:custGeom>
            <a:avLst/>
            <a:gdLst/>
            <a:ahLst/>
            <a:cxnLst/>
            <a:rect r="r" b="b" t="t" l="l"/>
            <a:pathLst>
              <a:path h="886750" w="1056350">
                <a:moveTo>
                  <a:pt x="0" y="0"/>
                </a:moveTo>
                <a:lnTo>
                  <a:pt x="1056350" y="0"/>
                </a:lnTo>
                <a:lnTo>
                  <a:pt x="1056350" y="886750"/>
                </a:lnTo>
                <a:lnTo>
                  <a:pt x="0" y="88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37159" y="829841"/>
            <a:ext cx="1056350" cy="886750"/>
          </a:xfrm>
          <a:custGeom>
            <a:avLst/>
            <a:gdLst/>
            <a:ahLst/>
            <a:cxnLst/>
            <a:rect r="r" b="b" t="t" l="l"/>
            <a:pathLst>
              <a:path h="886750" w="1056350">
                <a:moveTo>
                  <a:pt x="0" y="0"/>
                </a:moveTo>
                <a:lnTo>
                  <a:pt x="1056350" y="0"/>
                </a:lnTo>
                <a:lnTo>
                  <a:pt x="1056350" y="886750"/>
                </a:lnTo>
                <a:lnTo>
                  <a:pt x="0" y="88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37159" y="829841"/>
            <a:ext cx="1056350" cy="886750"/>
          </a:xfrm>
          <a:custGeom>
            <a:avLst/>
            <a:gdLst/>
            <a:ahLst/>
            <a:cxnLst/>
            <a:rect r="r" b="b" t="t" l="l"/>
            <a:pathLst>
              <a:path h="886750" w="1056350">
                <a:moveTo>
                  <a:pt x="0" y="0"/>
                </a:moveTo>
                <a:lnTo>
                  <a:pt x="1056350" y="0"/>
                </a:lnTo>
                <a:lnTo>
                  <a:pt x="1056350" y="886750"/>
                </a:lnTo>
                <a:lnTo>
                  <a:pt x="0" y="88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17659" y="2310113"/>
            <a:ext cx="7586662" cy="5958009"/>
          </a:xfrm>
          <a:custGeom>
            <a:avLst/>
            <a:gdLst/>
            <a:ahLst/>
            <a:cxnLst/>
            <a:rect r="r" b="b" t="t" l="l"/>
            <a:pathLst>
              <a:path h="5958009" w="7586662">
                <a:moveTo>
                  <a:pt x="0" y="0"/>
                </a:moveTo>
                <a:lnTo>
                  <a:pt x="7586662" y="0"/>
                </a:lnTo>
                <a:lnTo>
                  <a:pt x="7586662" y="5958009"/>
                </a:lnTo>
                <a:lnTo>
                  <a:pt x="0" y="59580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69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02363" y="353591"/>
            <a:ext cx="11296800" cy="1480272"/>
            <a:chOff x="0" y="0"/>
            <a:chExt cx="15062400" cy="19736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062400" cy="1973695"/>
            </a:xfrm>
            <a:custGeom>
              <a:avLst/>
              <a:gdLst/>
              <a:ahLst/>
              <a:cxnLst/>
              <a:rect r="r" b="b" t="t" l="l"/>
              <a:pathLst>
                <a:path h="1973695" w="15062400">
                  <a:moveTo>
                    <a:pt x="0" y="0"/>
                  </a:moveTo>
                  <a:lnTo>
                    <a:pt x="15062400" y="0"/>
                  </a:lnTo>
                  <a:lnTo>
                    <a:pt x="15062400" y="1973695"/>
                  </a:lnTo>
                  <a:lnTo>
                    <a:pt x="0" y="19736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5062400" cy="197369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Stage 3 - Design Decisi</a:t>
              </a:r>
              <a:r>
                <a:rPr lang="en-US" sz="3600">
                  <a:solidFill>
                    <a:srgbClr val="000000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ons &amp; Assumptions</a:t>
              </a:r>
            </a:p>
            <a:p>
              <a:pPr algn="l">
                <a:lnSpc>
                  <a:spcPts val="532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83679" y="2441043"/>
            <a:ext cx="9508480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Design Decisions:</a:t>
            </a: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Database: PostgreSQL with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read/write separation (master for writes, slave for reads).</a:t>
            </a: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Caching: Redis for caching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inventory logs to reduce DB load.</a:t>
            </a: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Async Events: Redis Pub/Sub for event-driven stock updates.</a:t>
            </a: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Time Handling: moment-timezone for consistent date filtering across regions.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83679" y="4250793"/>
            <a:ext cx="6328321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Assumptions:</a:t>
            </a: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Hig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h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c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o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ncur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re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ncy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h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an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dl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e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d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v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i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a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DB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po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oling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and ca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ch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i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ng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.</a:t>
            </a: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S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tock sync relies on Redis subscribers.</a:t>
            </a:r>
          </a:p>
          <a:p>
            <a:pPr algn="l" marL="388623" indent="-194312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Cache inv</a:t>
            </a: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alidation ensures data consistency.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6000" y="861300"/>
            <a:ext cx="11296800" cy="1145400"/>
            <a:chOff x="0" y="0"/>
            <a:chExt cx="15062400" cy="152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062400" cy="1527200"/>
            </a:xfrm>
            <a:custGeom>
              <a:avLst/>
              <a:gdLst/>
              <a:ahLst/>
              <a:cxnLst/>
              <a:rect r="r" b="b" t="t" l="l"/>
              <a:pathLst>
                <a:path h="1527200" w="15062400">
                  <a:moveTo>
                    <a:pt x="0" y="0"/>
                  </a:moveTo>
                  <a:lnTo>
                    <a:pt x="15062400" y="0"/>
                  </a:lnTo>
                  <a:lnTo>
                    <a:pt x="15062400" y="1527200"/>
                  </a:lnTo>
                  <a:lnTo>
                    <a:pt x="0" y="1527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5062400" cy="15272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327"/>
                </a:lnSpc>
              </a:pPr>
              <a:r>
                <a:rPr lang="en-US" sz="4440">
                  <a:solidFill>
                    <a:srgbClr val="000000"/>
                  </a:solidFill>
                  <a:latin typeface="Fredoka"/>
                  <a:ea typeface="Fredoka"/>
                  <a:cs typeface="Fredoka"/>
                  <a:sym typeface="Fredoka"/>
                </a:rPr>
                <a:t>STAGE 3 - API DESIGN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28500" y="861300"/>
            <a:ext cx="1056350" cy="886750"/>
          </a:xfrm>
          <a:custGeom>
            <a:avLst/>
            <a:gdLst/>
            <a:ahLst/>
            <a:cxnLst/>
            <a:rect r="r" b="b" t="t" l="l"/>
            <a:pathLst>
              <a:path h="886750" w="1056350">
                <a:moveTo>
                  <a:pt x="0" y="0"/>
                </a:moveTo>
                <a:lnTo>
                  <a:pt x="1056350" y="0"/>
                </a:lnTo>
                <a:lnTo>
                  <a:pt x="1056350" y="886750"/>
                </a:lnTo>
                <a:lnTo>
                  <a:pt x="0" y="88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09459" y="2477188"/>
            <a:ext cx="7747216" cy="5930346"/>
          </a:xfrm>
          <a:custGeom>
            <a:avLst/>
            <a:gdLst/>
            <a:ahLst/>
            <a:cxnLst/>
            <a:rect r="r" b="b" t="t" l="l"/>
            <a:pathLst>
              <a:path h="5930346" w="7747216">
                <a:moveTo>
                  <a:pt x="0" y="0"/>
                </a:moveTo>
                <a:lnTo>
                  <a:pt x="7747216" y="0"/>
                </a:lnTo>
                <a:lnTo>
                  <a:pt x="7747216" y="5930345"/>
                </a:lnTo>
                <a:lnTo>
                  <a:pt x="0" y="59303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3951" y="2336337"/>
            <a:ext cx="6649789" cy="365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API Endpoints:</a:t>
            </a:r>
          </a:p>
          <a:p>
            <a:pPr algn="l">
              <a:lnSpc>
                <a:spcPts val="2399"/>
              </a:lnSpc>
              <a:spcBef>
                <a:spcPct val="0"/>
              </a:spcBef>
            </a:pPr>
          </a:p>
          <a:p>
            <a:pPr algn="l">
              <a:lnSpc>
                <a:spcPts val="23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PUT /api/v2/product/stock-in/:id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Purpose: Add stock with logging 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Request: { "quantity": 5 }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Response: { "id": "uuid", "name": "Rice", "quantity": 15, ... }</a:t>
            </a:r>
          </a:p>
          <a:p>
            <a:pPr algn="l">
              <a:lnSpc>
                <a:spcPts val="23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GET /api/v2/logs/show-logs/:storeId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Purpose: Fetch logs with caching and date filtering (JWT)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Query: ?startDate=2025-04-01&amp;endDate=2025-04-04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Response: [{ "id": "uuid", "changeType": "IN", ... }, ...]</a:t>
            </a:r>
          </a:p>
          <a:p>
            <a:pPr algn="l">
              <a:lnSpc>
                <a:spcPts val="23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DELETE /api/v2/logs/delete-log/:id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Purpose: Delete a log and clear cache (JWT)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Response: { "message": "Log deleted successfully" 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DAGkQRnemmo</dc:identifier>
  <dcterms:modified xsi:type="dcterms:W3CDTF">2011-08-01T06:04:30Z</dcterms:modified>
  <cp:revision>1</cp:revision>
  <dc:title>Who are you? (Put yourself on a slide. Be creative!)</dc:title>
</cp:coreProperties>
</file>